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9144000"/>
  <p:embeddedFontLst>
    <p:embeddedFont>
      <p:font typeface="Calibri" panose="020F0502020204030204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Light"/>
      <p:regular r:id="rId20"/>
      <p:bold r:id="rId21"/>
      <p:italic r:id="rId22"/>
      <p:boldItalic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6.fntdata"/><Relationship Id="rId26" Type="http://schemas.openxmlformats.org/officeDocument/2006/relationships/font" Target="fonts/font15.fntdata"/><Relationship Id="rId25" Type="http://schemas.openxmlformats.org/officeDocument/2006/relationships/font" Target="fonts/font14.fntdata"/><Relationship Id="rId24" Type="http://schemas.openxmlformats.org/officeDocument/2006/relationships/font" Target="fonts/font13.fntdata"/><Relationship Id="rId23" Type="http://schemas.openxmlformats.org/officeDocument/2006/relationships/font" Target="fonts/font12.fntdata"/><Relationship Id="rId22" Type="http://schemas.openxmlformats.org/officeDocument/2006/relationships/font" Target="fonts/font11.fntdata"/><Relationship Id="rId21" Type="http://schemas.openxmlformats.org/officeDocument/2006/relationships/font" Target="fonts/font10.fntdata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Пустой слайд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Заголовок и объект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Титульный слайд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Заголовок раздела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Два объекта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Сравнение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6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6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Только заголовок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Объект с подписью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Рисунок с подписью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Заголовок и вертикальный текст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Вертикальный заголовок и текст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Изображение выглядит как снимок экрана, текст, графический дизайн, дизайн&#10;&#10;Контент, сгенерированный ИИ, может содержать ошибки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495024" y="2430506"/>
            <a:ext cx="6971400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Мир игрушек</a:t>
            </a:r>
            <a:endParaRPr lang="ru-RU" sz="6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95024" y="2001838"/>
            <a:ext cx="63504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Тема</a:t>
            </a:r>
            <a:endParaRPr lang="ru-RU" sz="3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95024" y="4354202"/>
            <a:ext cx="6350466" cy="397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ФИО         Алиев Бандар Эльбрус оглы</a:t>
            </a:r>
            <a:endParaRPr lang="ru-RU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95024" y="4619630"/>
            <a:ext cx="6350466" cy="397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Группа     3ИП-1-24</a:t>
            </a:r>
            <a:endParaRPr lang="ru-RU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" descr="Изображение выглядит как снимок экрана, белый, дизайн&#10;&#10;Контент, сгенерированный ИИ, может содержать ошибки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23415" y="0"/>
            <a:ext cx="17881600" cy="1090866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2135394" y="711180"/>
            <a:ext cx="6971251" cy="1075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8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Валидация</a:t>
            </a:r>
            <a:r>
              <a:rPr lang="en-US" alt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входных</a:t>
            </a:r>
            <a:r>
              <a:rPr lang="en-US" alt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данных</a:t>
            </a:r>
            <a:r>
              <a:rPr lang="en-US" alt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и</a:t>
            </a:r>
            <a:r>
              <a:rPr lang="en-US" alt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обработка</a:t>
            </a:r>
            <a:r>
              <a:rPr lang="en-US" alt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ошибок</a:t>
            </a:r>
            <a:endParaRPr lang="en-US" altLang="en-US" sz="3200" b="1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" name="Текстовое поле 0"/>
          <p:cNvSpPr txBox="1"/>
          <p:nvPr/>
        </p:nvSpPr>
        <p:spPr>
          <a:xfrm>
            <a:off x="4439920" y="6387465"/>
            <a:ext cx="5080000" cy="178371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ru-RU" altLang="en-US" sz="2000" b="1">
                <a:latin typeface="Calibri" panose="020F0502020204030204" charset="0"/>
                <a:cs typeface="Calibri" panose="020F0502020204030204" charset="0"/>
              </a:rPr>
              <a:t>                </a:t>
            </a:r>
            <a:r>
              <a:rPr lang="en-US" altLang="en-US" sz="2000" b="1">
                <a:latin typeface="Calibri" panose="020F0502020204030204" charset="0"/>
                <a:cs typeface="Calibri" panose="020F0502020204030204" charset="0"/>
              </a:rPr>
              <a:t>Обработка</a:t>
            </a:r>
            <a:r>
              <a:rPr lang="en-US" altLang="ru-RU" sz="2000" b="1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>
                <a:latin typeface="Calibri" panose="020F0502020204030204" charset="0"/>
                <a:cs typeface="Calibri" panose="020F0502020204030204" charset="0"/>
              </a:rPr>
              <a:t>исключений</a:t>
            </a:r>
            <a:endParaRPr lang="en-US" altLang="en-US" sz="20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Защита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от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несанкционированного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доступа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):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Если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пользователь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вводит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несуществующий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логин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или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ошибается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в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символах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система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не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зависает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не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вылетает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а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перехватывает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событие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выводит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окно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: </a:t>
            </a:r>
            <a:r>
              <a:rPr lang="" altLang="en-US" sz="1800">
                <a:latin typeface="Calibri" panose="020F0502020204030204" charset="0"/>
                <a:cs typeface="Calibri" panose="020F0502020204030204" charset="0"/>
              </a:rPr>
              <a:t>«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Пользователь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не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найден</a:t>
            </a:r>
            <a:r>
              <a:rPr lang="en-US" altLang="ru-RU" sz="1800">
                <a:latin typeface="Calibri" panose="020F0502020204030204" charset="0"/>
                <a:cs typeface="Calibri" panose="020F0502020204030204" charset="0"/>
              </a:rPr>
              <a:t>!</a:t>
            </a:r>
            <a:r>
              <a:rPr lang="" altLang="en-US" sz="1800">
                <a:latin typeface="Calibri" panose="020F0502020204030204" charset="0"/>
                <a:cs typeface="Calibri" panose="020F0502020204030204" charset="0"/>
              </a:rPr>
              <a:t>»</a:t>
            </a:r>
            <a:endParaRPr lang="en-US" altLang="zh-CN" sz="18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10596880" y="6525578"/>
            <a:ext cx="5080000" cy="150685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ru-RU" altLang="en-US" sz="1800" b="1">
                <a:latin typeface="Calibri" panose="020F0502020204030204" charset="0"/>
                <a:ea typeface="Google Sans"/>
                <a:cs typeface="Calibri" panose="020F0502020204030204" charset="0"/>
              </a:rPr>
              <a:t>              </a:t>
            </a:r>
            <a:r>
              <a:rPr lang="ru-RU" altLang="en-US" sz="2000" b="1">
                <a:latin typeface="Calibri" panose="020F0502020204030204" charset="0"/>
                <a:ea typeface="Google Sans"/>
                <a:cs typeface="Calibri" panose="020F0502020204030204" charset="0"/>
              </a:rPr>
              <a:t> </a:t>
            </a:r>
            <a:r>
              <a:rPr lang="en-US" altLang="zh-CN" sz="2000" b="1">
                <a:latin typeface="Calibri" panose="020F0502020204030204" charset="0"/>
                <a:ea typeface="Google Sans"/>
                <a:cs typeface="Calibri" panose="020F0502020204030204" charset="0"/>
              </a:rPr>
              <a:t>Защита от пустых полей</a:t>
            </a:r>
            <a:r>
              <a:rPr lang="ru-RU" altLang="en-US" sz="2000" b="1">
                <a:latin typeface="Calibri" panose="020F0502020204030204" charset="0"/>
                <a:ea typeface="Google Sans"/>
                <a:cs typeface="Calibri" panose="020F0502020204030204" charset="0"/>
              </a:rPr>
              <a:t> </a:t>
            </a:r>
            <a:endParaRPr lang="ru-RU" altLang="en-US" sz="2000" b="1">
              <a:latin typeface="Calibri" panose="020F0502020204030204" charset="0"/>
              <a:ea typeface="Google Sans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ru-RU" altLang="en-US" sz="1800">
                <a:latin typeface="Calibri" panose="020F0502020204030204" charset="0"/>
                <a:cs typeface="Calibri" panose="020F0502020204030204" charset="0"/>
              </a:rPr>
              <a:t>Пр</a:t>
            </a:r>
            <a:r>
              <a:rPr lang="en-US" altLang="zh-CN" sz="1800">
                <a:latin typeface="Calibri" panose="020F0502020204030204" charset="0"/>
                <a:cs typeface="Calibri" panose="020F0502020204030204" charset="0"/>
              </a:rPr>
              <a:t>и попытке войти с пустым логином </a:t>
            </a:r>
            <a:r>
              <a:rPr lang="ru-RU" altLang="en-US" sz="1800">
                <a:latin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zh-CN" sz="1800">
                <a:latin typeface="Calibri" panose="020F0502020204030204" charset="0"/>
                <a:cs typeface="Calibri" panose="020F0502020204030204" charset="0"/>
              </a:rPr>
              <a:t>срабатывает предупреждение </a:t>
            </a:r>
            <a:r>
              <a:rPr lang="ru-RU" altLang="en-US" sz="1800">
                <a:latin typeface="Calibri" panose="020F0502020204030204" charset="0"/>
                <a:cs typeface="Calibri" panose="020F0502020204030204" charset="0"/>
              </a:rPr>
              <a:t>Поле ввода логина не может быть пустым</a:t>
            </a:r>
            <a:r>
              <a:rPr lang="en-US" altLang="zh-CN" sz="1800">
                <a:latin typeface="Calibri" panose="020F0502020204030204" charset="0"/>
                <a:cs typeface="Calibri" panose="020F0502020204030204" charset="0"/>
              </a:rPr>
              <a:t> предотвращая отправку некорректного запроса в БД.</a:t>
            </a:r>
            <a:endParaRPr lang="en-US" altLang="zh-CN" sz="18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385" y="8542020"/>
            <a:ext cx="3857625" cy="1628140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775" y="8397875"/>
            <a:ext cx="5575935" cy="220853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730" y="2997200"/>
            <a:ext cx="3810000" cy="2714625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3647440" y="2132965"/>
            <a:ext cx="4706620" cy="704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ru-RU" sz="1800"/>
              <a:t>Вот как выглядит мое окно авторизации</a:t>
            </a:r>
            <a:endParaRPr lang="ru-RU" altLang="ru-RU" sz="1800"/>
          </a:p>
          <a:p>
            <a:r>
              <a:rPr lang="ru-RU" altLang="ru-RU" sz="1800"/>
              <a:t>            при запуске приложения </a:t>
            </a:r>
            <a:endParaRPr lang="ru-RU" altLang="ru-RU" sz="1800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-1436370" y="6381433"/>
            <a:ext cx="5080000" cy="17532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ru-RU" altLang="en-US" sz="1800" b="1">
                <a:latin typeface="Calibri" panose="020F0502020204030204" charset="0"/>
                <a:ea typeface="Google Sans"/>
                <a:cs typeface="Calibri" panose="020F0502020204030204" charset="0"/>
              </a:rPr>
              <a:t>                   </a:t>
            </a:r>
            <a:r>
              <a:rPr lang="en-US" altLang="zh-CN" sz="1800" b="1">
                <a:latin typeface="Calibri" panose="020F0502020204030204" charset="0"/>
                <a:ea typeface="Google Sans"/>
                <a:cs typeface="Calibri" panose="020F0502020204030204" charset="0"/>
              </a:rPr>
              <a:t>Отказоустойчивость</a:t>
            </a:r>
            <a:endParaRPr lang="en-US" altLang="zh-CN" sz="1800" b="1">
              <a:latin typeface="Calibri" panose="020F0502020204030204" charset="0"/>
              <a:ea typeface="Google Sans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Calibri" panose="020F0502020204030204" charset="0"/>
                <a:cs typeface="Calibri" panose="020F0502020204030204" charset="0"/>
              </a:rPr>
              <a:t>При возникновении сетевых сбоев или физического отсутствия связи с сервером PostgreSQL, приложение корректно закрывает пул соединений и сообщает об ошибке подключения.</a:t>
            </a:r>
            <a:endParaRPr lang="en-US" altLang="zh-CN" sz="18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8" name="Изображение 7" descr="istockphoto-1336657186-612x6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32510" y="8109585"/>
            <a:ext cx="3235325" cy="2405380"/>
          </a:xfrm>
          <a:prstGeom prst="rect">
            <a:avLst/>
          </a:prstGeom>
        </p:spPr>
      </p:pic>
      <p:sp>
        <p:nvSpPr>
          <p:cNvPr id="9" name="Текстовое поле 8"/>
          <p:cNvSpPr txBox="1"/>
          <p:nvPr/>
        </p:nvSpPr>
        <p:spPr>
          <a:xfrm>
            <a:off x="8040370" y="2996883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ru-RU" altLang="en-US" b="1">
                <a:latin typeface="Calibri" panose="020F0502020204030204" charset="0"/>
                <a:ea typeface="Google Sans"/>
                <a:cs typeface="Calibri" panose="020F0502020204030204" charset="0"/>
              </a:rPr>
              <a:t>1</a:t>
            </a:r>
            <a:r>
              <a:rPr lang="en-US" altLang="en-US" b="1">
                <a:latin typeface="Calibri" panose="020F0502020204030204" charset="0"/>
                <a:ea typeface="Google Sans"/>
                <a:cs typeface="Calibri" panose="020F0502020204030204" charset="0"/>
              </a:rPr>
              <a:t>.</a:t>
            </a:r>
            <a:r>
              <a:rPr lang="en-US" altLang="zh-CN" b="1">
                <a:latin typeface="Calibri" panose="020F0502020204030204" charset="0"/>
                <a:ea typeface="Google Sans"/>
                <a:cs typeface="Calibri" panose="020F0502020204030204" charset="0"/>
              </a:rPr>
              <a:t>Интуитивный интерфейс:</a:t>
            </a:r>
            <a:r>
              <a:rPr lang="en-US" altLang="zh-CN">
                <a:latin typeface="Calibri" panose="020F0502020204030204" charset="0"/>
                <a:cs typeface="Calibri" panose="020F0502020204030204" charset="0"/>
              </a:rPr>
              <a:t> Окно не перегружено лишними деталями; внимание пользователя сразу фокусируется на поле ввода &lt;</a:t>
            </a:r>
            <a:r>
              <a:rPr lang="en-US" altLang="zh-CN" b="0">
                <a:latin typeface="Calibri" panose="020F0502020204030204" charset="0"/>
                <a:ea typeface="Google Sans"/>
                <a:cs typeface="Calibri" panose="020F0502020204030204" charset="0"/>
              </a:rPr>
              <a:t>Введите ваш логин.&gt;</a:t>
            </a:r>
            <a:endParaRPr lang="en-US" altLang="zh-CN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8040370" y="3734435"/>
            <a:ext cx="5080000" cy="9531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b="1">
                <a:latin typeface="Calibri" panose="020F0502020204030204" charset="0"/>
                <a:ea typeface="Google Sans"/>
                <a:cs typeface="Calibri" panose="020F0502020204030204" charset="0"/>
              </a:rPr>
              <a:t>2.Индивидуальная иконка:</a:t>
            </a:r>
            <a:r>
              <a:rPr lang="en-US" altLang="zh-CN" b="0">
                <a:latin typeface="Calibri" panose="020F0502020204030204" charset="0"/>
                <a:ea typeface="Google Sans"/>
                <a:cs typeface="Calibri" panose="020F0502020204030204" charset="0"/>
              </a:rPr>
              <a:t> В верхнем левом углу окна установлена кастомная иконка в виде плюшевого мишки, что подчёркивает целостность и проработанность темы приложения.</a:t>
            </a:r>
            <a:endParaRPr lang="en-US" altLang="zh-CN" b="0">
              <a:latin typeface="Calibri" panose="020F0502020204030204" charset="0"/>
              <a:ea typeface="Google Sans"/>
              <a:cs typeface="Calibri" panose="020F050202020403020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040370" y="4687570"/>
            <a:ext cx="5080000" cy="9531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b="1">
                <a:latin typeface="Calibri" panose="020F0502020204030204" charset="0"/>
                <a:ea typeface="Google Sans"/>
                <a:cs typeface="Calibri" panose="020F0502020204030204" charset="0"/>
              </a:rPr>
              <a:t>3.Современный фокус-эффект:</a:t>
            </a:r>
            <a:r>
              <a:rPr lang="en-US" altLang="zh-CN" b="0">
                <a:latin typeface="Calibri" panose="020F0502020204030204" charset="0"/>
                <a:ea typeface="Google Sans"/>
                <a:cs typeface="Calibri" panose="020F0502020204030204" charset="0"/>
              </a:rPr>
              <a:t> Поле ввода имеет динамическую зелёную рамку при установке курсора (фокусе), что визуально подсказывает пользователю об активности элемента.</a:t>
            </a:r>
            <a:endParaRPr lang="en-US" altLang="zh-CN" b="0">
              <a:latin typeface="Calibri" panose="020F0502020204030204" charset="0"/>
              <a:ea typeface="Google Sans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 descr="Изображение выглядит как снимок экрана, белый, дизайн&#10;&#10;Контент, сгенерированный ИИ, может содержать ошибки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-892810"/>
            <a:ext cx="12192000" cy="1092581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679450" y="517525"/>
            <a:ext cx="7705725" cy="1075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</a:t>
            </a:r>
            <a:r>
              <a:rPr lang="en-US" alt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и</a:t>
            </a:r>
            <a:r>
              <a:rPr lang="en-US" alt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</a:t>
            </a:r>
            <a:r>
              <a:rPr lang="en-US" alt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работы</a:t>
            </a:r>
            <a:r>
              <a:rPr lang="en-US" alt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с</a:t>
            </a:r>
            <a:r>
              <a:rPr lang="en-US" alt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en-US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СУБД</a:t>
            </a:r>
            <a:r>
              <a:rPr lang="en-US" alt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(PostgreSQL)</a:t>
            </a:r>
            <a:endParaRPr lang="en-US" altLang="ru-RU" sz="3200" b="1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79508" y="1102200"/>
            <a:ext cx="6971251" cy="397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" name="Текстовое поле 0"/>
          <p:cNvSpPr txBox="1"/>
          <p:nvPr/>
        </p:nvSpPr>
        <p:spPr>
          <a:xfrm>
            <a:off x="695325" y="1988503"/>
            <a:ext cx="5080000" cy="119888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ru-RU" altLang="en-US" sz="1800" b="1">
                <a:latin typeface="Calibri" panose="020F0502020204030204" charset="0"/>
                <a:ea typeface="Google Sans"/>
                <a:cs typeface="Calibri" panose="020F0502020204030204" charset="0"/>
              </a:rPr>
              <a:t>1</a:t>
            </a:r>
            <a:r>
              <a:rPr lang="en-US" altLang="en-US" sz="1800" b="1">
                <a:latin typeface="Calibri" panose="020F0502020204030204" charset="0"/>
                <a:ea typeface="Google Sans"/>
                <a:cs typeface="Calibri" panose="020F0502020204030204" charset="0"/>
              </a:rPr>
              <a:t>.</a:t>
            </a:r>
            <a:r>
              <a:rPr lang="en-US" altLang="zh-CN" sz="1800" b="1">
                <a:latin typeface="Calibri" panose="020F0502020204030204" charset="0"/>
                <a:ea typeface="Google Sans"/>
                <a:cs typeface="Calibri" panose="020F0502020204030204" charset="0"/>
              </a:rPr>
              <a:t>Пул соединений (Connection Pooling):</a:t>
            </a:r>
            <a:r>
              <a:rPr lang="en-US" altLang="zh-CN" sz="1800">
                <a:latin typeface="Calibri" panose="020F0502020204030204" charset="0"/>
                <a:cs typeface="Calibri" panose="020F0502020204030204" charset="0"/>
              </a:rPr>
              <a:t> Использование </a:t>
            </a:r>
            <a:r>
              <a:rPr lang="en-US" altLang="zh-CN" sz="1800" b="0">
                <a:latin typeface="Calibri" panose="020F0502020204030204" charset="0"/>
                <a:ea typeface="monospace"/>
                <a:cs typeface="Calibri" panose="020F0502020204030204" charset="0"/>
              </a:rPr>
              <a:t>SimpleConnectionPool</a:t>
            </a:r>
            <a:r>
              <a:rPr lang="en-US" altLang="zh-CN" sz="1800">
                <a:latin typeface="Calibri" panose="020F0502020204030204" charset="0"/>
                <a:cs typeface="Calibri" panose="020F0502020204030204" charset="0"/>
              </a:rPr>
              <a:t> вместо постоянного открытия/закрытия сессий. Это экономит оперативную память сервера.</a:t>
            </a:r>
            <a:endParaRPr lang="en-US" altLang="zh-CN" sz="18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565" y="2040890"/>
            <a:ext cx="6276975" cy="1249045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679450" y="4149090"/>
            <a:ext cx="5080000" cy="261493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ru-RU" altLang="en-US" sz="1800" b="1">
                <a:latin typeface="Calibri" panose="020F0502020204030204" charset="0"/>
                <a:ea typeface="Google Sans"/>
                <a:cs typeface="Calibri" panose="020F0502020204030204" charset="0"/>
              </a:rPr>
              <a:t>2</a:t>
            </a:r>
            <a:r>
              <a:rPr lang="en-US" altLang="en-US" sz="1800" b="1">
                <a:latin typeface="Calibri" panose="020F0502020204030204" charset="0"/>
                <a:ea typeface="Google Sans"/>
                <a:cs typeface="Calibri" panose="020F0502020204030204" charset="0"/>
              </a:rPr>
              <a:t>.</a:t>
            </a:r>
            <a:r>
              <a:rPr lang="en-US" altLang="zh-CN" sz="1800" b="1">
                <a:latin typeface="Calibri" panose="020F0502020204030204" charset="0"/>
                <a:ea typeface="Google Sans"/>
                <a:cs typeface="Calibri" panose="020F0502020204030204" charset="0"/>
              </a:rPr>
              <a:t>Безопасность транзакций:</a:t>
            </a:r>
            <a:r>
              <a:rPr lang="en-US" altLang="zh-CN" sz="1800">
                <a:latin typeface="Calibri" panose="020F0502020204030204" charset="0"/>
                <a:cs typeface="Calibri" panose="020F0502020204030204" charset="0"/>
              </a:rPr>
              <a:t> Использование блоков </a:t>
            </a:r>
            <a:r>
              <a:rPr lang="en-US" altLang="zh-CN" sz="1800" b="0">
                <a:latin typeface="Calibri" panose="020F0502020204030204" charset="0"/>
                <a:ea typeface="monospace"/>
                <a:cs typeface="Calibri" panose="020F0502020204030204" charset="0"/>
              </a:rPr>
              <a:t>try-except-finally</a:t>
            </a:r>
            <a:r>
              <a:rPr lang="en-US" altLang="zh-CN" sz="1800">
                <a:latin typeface="Calibri" panose="020F0502020204030204" charset="0"/>
                <a:cs typeface="Calibri" panose="020F0502020204030204" charset="0"/>
              </a:rPr>
              <a:t> гарантирует, что в случае любой ошибки базы данных соединение автоматически вернется в пул (метод </a:t>
            </a:r>
            <a:r>
              <a:rPr lang="en-US" altLang="zh-CN" sz="1800" b="0">
                <a:latin typeface="Calibri" panose="020F0502020204030204" charset="0"/>
                <a:ea typeface="monospace"/>
                <a:cs typeface="Calibri" panose="020F0502020204030204" charset="0"/>
              </a:rPr>
              <a:t>release_connection</a:t>
            </a:r>
            <a:r>
              <a:rPr lang="en-US" altLang="zh-CN" sz="1800">
                <a:latin typeface="Calibri" panose="020F0502020204030204" charset="0"/>
                <a:cs typeface="Calibri" panose="020F0502020204030204" charset="0"/>
              </a:rPr>
              <a:t>), исключая зависание программы.</a:t>
            </a:r>
            <a:endParaRPr lang="en-US" altLang="ru-RU" sz="18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Строка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с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[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ЛОГ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]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Ошибка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...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показывает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что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внутри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блока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try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произошел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сбой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(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база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данных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не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нашла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таблицу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users).</a:t>
            </a:r>
            <a:endParaRPr lang="en-US" altLang="ru-RU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Блок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except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перехватил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эту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критическую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ошибку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не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дав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программе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аварийно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закрыться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или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вылететь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 (</a:t>
            </a:r>
            <a:r>
              <a:rPr lang="" altLang="en-US">
                <a:latin typeface="Calibri" panose="020F0502020204030204" charset="0"/>
                <a:cs typeface="Calibri" panose="020F0502020204030204" charset="0"/>
              </a:rPr>
              <a:t>«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зависнуть</a:t>
            </a:r>
            <a:r>
              <a:rPr lang="" altLang="en-US">
                <a:latin typeface="Calibri" panose="020F0502020204030204" charset="0"/>
                <a:cs typeface="Calibri" panose="020F0502020204030204" charset="0"/>
              </a:rPr>
              <a:t>»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</a:rPr>
              <a:t>).</a:t>
            </a:r>
            <a:endParaRPr lang="en-US" altLang="ru-RU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845" y="3738245"/>
            <a:ext cx="5859780" cy="281876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551180" y="7605078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1">
                <a:latin typeface="Calibri" panose="020F0502020204030204" charset="0"/>
                <a:cs typeface="Calibri" panose="020F0502020204030204" charset="0"/>
              </a:rPr>
              <a:t>Кодировка данных</a:t>
            </a:r>
            <a:r>
              <a:rPr lang="en-US" altLang="zh-CN" sz="1600">
                <a:latin typeface="Calibri" panose="020F0502020204030204" charset="0"/>
                <a:cs typeface="Calibri" panose="020F0502020204030204" charset="0"/>
              </a:rPr>
              <a:t>: Принудительная установка PGCLIENTENCODING = 'utf-8' на уровне ядра Windows для стабильного отображения русского текста.</a:t>
            </a:r>
            <a:endParaRPr lang="en-US" altLang="zh-CN" sz="16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845" y="7965440"/>
            <a:ext cx="6086475" cy="1186815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623570" y="8469313"/>
            <a:ext cx="5080000" cy="95313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>
                <a:latin typeface="Calibri" panose="020F0502020204030204" charset="0"/>
                <a:cs typeface="Calibri" panose="020F0502020204030204" charset="0"/>
              </a:rPr>
              <a:t>Здесь показано решение проблемы с кодировкой в Windows. Чтобы русский текст из базы данных не превращался в нечитаемые </a:t>
            </a:r>
            <a:r>
              <a:rPr lang="ru-RU" altLang="en-US">
                <a:latin typeface="Calibri" panose="020F0502020204030204" charset="0"/>
                <a:cs typeface="Calibri" panose="020F0502020204030204" charset="0"/>
              </a:rPr>
              <a:t>символы</a:t>
            </a:r>
            <a:r>
              <a:rPr lang="en-US" altLang="zh-CN">
                <a:latin typeface="Calibri" panose="020F0502020204030204" charset="0"/>
                <a:cs typeface="Calibri" panose="020F0502020204030204" charset="0"/>
              </a:rPr>
              <a:t>, мы принудительно установили стандарт </a:t>
            </a:r>
            <a:r>
              <a:rPr lang="en-US" altLang="zh-CN" b="0">
                <a:latin typeface="Calibri" panose="020F0502020204030204" charset="0"/>
                <a:ea typeface="monospace"/>
                <a:cs typeface="Calibri" panose="020F0502020204030204" charset="0"/>
              </a:rPr>
              <a:t>utf-8</a:t>
            </a:r>
            <a:endParaRPr lang="en-US" altLang="zh-CN" b="0">
              <a:latin typeface="Calibri" panose="020F0502020204030204" charset="0"/>
              <a:ea typeface="monospace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" descr="Изображение выглядит как снимок экрана, белый, дизайн&#10;&#10;Контент, сгенерированный ИИ, может содержать ошибки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2662555" y="-1122680"/>
            <a:ext cx="14854555" cy="7980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5952490" y="3213100"/>
            <a:ext cx="5267960" cy="951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b="1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5</a:t>
            </a:r>
            <a:r>
              <a:rPr lang="en-US" altLang="en-US" b="1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.Динамическая</a:t>
            </a:r>
            <a:r>
              <a:rPr lang="en-US" altLang="ru-RU" b="1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 b="1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персонализация</a:t>
            </a:r>
            <a:r>
              <a:rPr lang="en-US" altLang="ru-RU" b="1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: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В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шапку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приложения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выводятся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ФИО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текущего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пользователя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и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его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роль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(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Администратор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,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Менеджер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,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Клиент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),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полученные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из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базы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данных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public.users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при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авторизации</a:t>
            </a:r>
            <a:r>
              <a:rPr lang="en-US" altLang="ru-RU">
                <a:solidFill>
                  <a:srgbClr val="0C0C0C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Montserrat"/>
              </a:rPr>
              <a:t>.</a:t>
            </a:r>
            <a:endParaRPr lang="ru-RU">
              <a:solidFill>
                <a:srgbClr val="0C0C0C"/>
              </a:solidFill>
              <a:latin typeface="Calibri" panose="020F0502020204030204" charset="0"/>
              <a:ea typeface="Montserrat"/>
              <a:cs typeface="Calibri" panose="020F0502020204030204" charset="0"/>
              <a:sym typeface="Montserrat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5880270" y="-386308"/>
            <a:ext cx="5065225" cy="735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b="1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</a:t>
            </a:r>
            <a:r>
              <a:rPr lang="en-US" altLang="en-US" b="1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.Автоматизация</a:t>
            </a:r>
            <a:r>
              <a:rPr lang="en-US" altLang="ru-RU" b="1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 b="1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бизнес</a:t>
            </a:r>
            <a:r>
              <a:rPr lang="en-US" altLang="ru-RU" b="1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-</a:t>
            </a:r>
            <a:r>
              <a:rPr lang="en-US" altLang="en-US" b="1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логики</a:t>
            </a:r>
            <a:r>
              <a:rPr lang="en-US" altLang="ru-RU" b="1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Алгоритм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прямо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«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на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лету</a:t>
            </a:r>
            <a:r>
              <a:rPr lang="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»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проверяет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базовую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стоимость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товара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из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БД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и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применяет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скидку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25%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на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позиции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от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1300 </a:t>
            </a:r>
            <a:r>
              <a:rPr lang="en-US" altLang="en-US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₽</a:t>
            </a:r>
            <a:r>
              <a:rPr lang="en-US" altLang="ru-RU">
                <a:solidFill>
                  <a:srgbClr val="0C0C0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 lang="en-US" altLang="ru-RU">
              <a:solidFill>
                <a:srgbClr val="0C0C0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" name="Изображение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88590" y="-1104265"/>
            <a:ext cx="8442325" cy="7962265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5892800" y="476568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Calibri" panose="020F0502020204030204" charset="0"/>
                <a:ea typeface="Google Sans"/>
                <a:cs typeface="Calibri" panose="020F0502020204030204" charset="0"/>
              </a:rPr>
              <a:t>2.Визуальная индикация:</a:t>
            </a:r>
            <a:r>
              <a:rPr lang="en-US" altLang="zh-CN">
                <a:latin typeface="Calibri" panose="020F0502020204030204" charset="0"/>
                <a:cs typeface="Calibri" panose="020F0502020204030204" charset="0"/>
              </a:rPr>
              <a:t> Для акционных товаров выводится серая зачеркнутая старая цена, а актуальная стоимость подсвечивается привлекающим внимание красным цветом.</a:t>
            </a:r>
            <a:endParaRPr lang="en-US" altLang="zh-CN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908040" y="1412875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Calibri" panose="020F0502020204030204" charset="0"/>
                <a:ea typeface="Google Sans"/>
                <a:cs typeface="Calibri" panose="020F0502020204030204" charset="0"/>
              </a:rPr>
              <a:t>3.Защита интерфейса:</a:t>
            </a:r>
            <a:r>
              <a:rPr lang="en-US" altLang="zh-CN">
                <a:latin typeface="Calibri" panose="020F0502020204030204" charset="0"/>
                <a:cs typeface="Calibri" panose="020F0502020204030204" charset="0"/>
              </a:rPr>
              <a:t> Позиции дешевле 1300 ₽ автоматически отображаются со стандартным строгим чёрным ценником, не путая покупателя.</a:t>
            </a:r>
            <a:endParaRPr lang="en-US" altLang="zh-CN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5908040" y="2313305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ru-RU" altLang="en-US" b="1">
                <a:latin typeface="Calibri" panose="020F0502020204030204" charset="0"/>
                <a:ea typeface="Google Sans"/>
                <a:cs typeface="Calibri" panose="020F0502020204030204" charset="0"/>
              </a:rPr>
              <a:t>4</a:t>
            </a:r>
            <a:r>
              <a:rPr lang="en-US" altLang="en-US" b="1">
                <a:latin typeface="Calibri" panose="020F0502020204030204" charset="0"/>
                <a:ea typeface="Google Sans"/>
                <a:cs typeface="Calibri" panose="020F0502020204030204" charset="0"/>
              </a:rPr>
              <a:t>.</a:t>
            </a:r>
            <a:r>
              <a:rPr lang="en-US" altLang="zh-CN" b="1">
                <a:latin typeface="Calibri" panose="020F0502020204030204" charset="0"/>
                <a:ea typeface="Google Sans"/>
                <a:cs typeface="Calibri" panose="020F0502020204030204" charset="0"/>
              </a:rPr>
              <a:t>Корректный выход:</a:t>
            </a:r>
            <a:r>
              <a:rPr lang="en-US" altLang="zh-CN">
                <a:latin typeface="Calibri" panose="020F0502020204030204" charset="0"/>
                <a:cs typeface="Calibri" panose="020F0502020204030204" charset="0"/>
              </a:rPr>
              <a:t> Кнопка «Выход» отвечает за безопасное закрытие текущей сессии пользователя и главного окна приложения.</a:t>
            </a:r>
            <a:endParaRPr lang="en-US" altLang="zh-CN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952490" y="4327208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ru-RU" altLang="en-US" b="1">
                <a:latin typeface="Calibri" panose="020F0502020204030204" charset="0"/>
                <a:ea typeface="Google Sans"/>
                <a:cs typeface="Calibri" panose="020F0502020204030204" charset="0"/>
              </a:rPr>
              <a:t>6</a:t>
            </a:r>
            <a:r>
              <a:rPr lang="en-US" altLang="en-US" b="1">
                <a:latin typeface="Calibri" panose="020F0502020204030204" charset="0"/>
                <a:ea typeface="Google Sans"/>
                <a:cs typeface="Calibri" panose="020F0502020204030204" charset="0"/>
              </a:rPr>
              <a:t>.</a:t>
            </a:r>
            <a:r>
              <a:rPr lang="en-US" altLang="zh-CN" b="1">
                <a:latin typeface="Calibri" panose="020F0502020204030204" charset="0"/>
                <a:ea typeface="Google Sans"/>
                <a:cs typeface="Calibri" panose="020F0502020204030204" charset="0"/>
              </a:rPr>
              <a:t>Брендирование приложения:</a:t>
            </a:r>
            <a:r>
              <a:rPr lang="en-US" altLang="zh-CN" b="0">
                <a:latin typeface="Calibri" panose="020F0502020204030204" charset="0"/>
                <a:ea typeface="Google Sans"/>
                <a:cs typeface="Calibri" panose="020F0502020204030204" charset="0"/>
              </a:rPr>
              <a:t> Наличие кастомной иконки на панели окна связывает форму входа с общей тематикой каталога «Мир игрушек».</a:t>
            </a:r>
            <a:endParaRPr lang="en-US" altLang="zh-CN" b="0">
              <a:latin typeface="Calibri" panose="020F0502020204030204" charset="0"/>
              <a:ea typeface="Google Sans"/>
              <a:cs typeface="Calibri" panose="020F0502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7031990" y="-10356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400" b="1">
                <a:latin typeface="Calibri" panose="020F0502020204030204" charset="0"/>
                <a:cs typeface="Calibri" panose="020F0502020204030204" charset="0"/>
              </a:rPr>
              <a:t>Интерфейс приложения</a:t>
            </a:r>
            <a:endParaRPr lang="ru-RU" altLang="ru-RU" sz="2400" b="1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5" descr="Изображение выглядит как снимок экрана, белый, дизайн&#10;&#10;Контент, сгенерированный ИИ, может содержать ошибки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212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/>
        </p:nvSpPr>
        <p:spPr>
          <a:xfrm>
            <a:off x="3935730" y="476885"/>
            <a:ext cx="3504565" cy="582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Краткий Итог</a:t>
            </a:r>
            <a:endParaRPr lang="ru-RU" sz="3200" b="1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" name="Текстовое поле 0"/>
          <p:cNvSpPr txBox="1"/>
          <p:nvPr/>
        </p:nvSpPr>
        <p:spPr>
          <a:xfrm>
            <a:off x="479425" y="1340485"/>
            <a:ext cx="5080000" cy="101473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ru-RU" altLang="en-US" sz="2000" b="1">
                <a:latin typeface="Calibri" panose="020F0502020204030204" charset="0"/>
                <a:ea typeface="Google Sans"/>
                <a:cs typeface="Calibri" panose="020F0502020204030204" charset="0"/>
              </a:rPr>
              <a:t>1</a:t>
            </a:r>
            <a:r>
              <a:rPr lang="en-US" altLang="en-US" sz="2000" b="1">
                <a:latin typeface="Calibri" panose="020F0502020204030204" charset="0"/>
                <a:ea typeface="Google Sans"/>
                <a:cs typeface="Calibri" panose="020F0502020204030204" charset="0"/>
              </a:rPr>
              <a:t>.</a:t>
            </a:r>
            <a:r>
              <a:rPr lang="en-US" altLang="zh-CN" sz="2000" b="1">
                <a:latin typeface="Calibri" panose="020F0502020204030204" charset="0"/>
                <a:ea typeface="Google Sans"/>
                <a:cs typeface="Calibri" panose="020F0502020204030204" charset="0"/>
              </a:rPr>
              <a:t>Программный комплекс:</a:t>
            </a:r>
            <a:r>
              <a:rPr lang="en-US" altLang="zh-CN" sz="2000">
                <a:latin typeface="Calibri" panose="020F0502020204030204" charset="0"/>
                <a:cs typeface="Calibri" panose="020F0502020204030204" charset="0"/>
              </a:rPr>
              <a:t> успешно разработано и протестировано десктопное приложение «Мир игрушек»</a:t>
            </a:r>
            <a:endParaRPr lang="en-US" altLang="zh-CN" sz="2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79425" y="2348865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Calibri" panose="020F0502020204030204" charset="0"/>
                <a:ea typeface="Google Sans"/>
                <a:cs typeface="Calibri" panose="020F0502020204030204" charset="0"/>
              </a:rPr>
              <a:t>2.Интеграция с СУБД:</a:t>
            </a:r>
            <a:r>
              <a:rPr lang="en-US" altLang="zh-CN" sz="2000">
                <a:latin typeface="Calibri" panose="020F0502020204030204" charset="0"/>
                <a:cs typeface="Calibri" panose="020F0502020204030204" charset="0"/>
              </a:rPr>
              <a:t> спроектирована стабильная реляционная база данных PostgreSQL с использованием пула соединений для оптимизации памяти.</a:t>
            </a:r>
            <a:endParaRPr lang="en-US" altLang="zh-CN" sz="2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479425" y="3670935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Calibri" panose="020F0502020204030204" charset="0"/>
                <a:ea typeface="Google Sans"/>
                <a:cs typeface="Calibri" panose="020F0502020204030204" charset="0"/>
              </a:rPr>
              <a:t>3.Бизнес-логика:</a:t>
            </a:r>
            <a:r>
              <a:rPr lang="en-US" altLang="zh-CN" sz="2000">
                <a:latin typeface="Calibri" panose="020F0502020204030204" charset="0"/>
                <a:cs typeface="Calibri" panose="020F0502020204030204" charset="0"/>
              </a:rPr>
              <a:t> полностью автоматизированы расчет 25% скидок для каталога товаров и трехролевая модель разграничения прав доступа.</a:t>
            </a:r>
            <a:endParaRPr lang="en-US" altLang="zh-CN"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3527</Words>
  <Application>WPS Presentation</Application>
  <PresentationFormat/>
  <Paragraphs>62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Montserrat</vt:lpstr>
      <vt:lpstr>Montserrat Light</vt:lpstr>
      <vt:lpstr>Montserrat Medium</vt:lpstr>
      <vt:lpstr>Microsoft YaHei</vt:lpstr>
      <vt:lpstr>Arial Unicode MS</vt:lpstr>
      <vt:lpstr>Google Sans</vt:lpstr>
      <vt:lpstr>Segoe Print</vt:lpstr>
      <vt:lpstr>Calibri Light</vt:lpstr>
      <vt:lpstr>Calibri</vt:lpstr>
      <vt:lpstr>monospace</vt:lpstr>
      <vt:lpstr>Bookman Old Style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qwerty</dc:creator>
  <cp:lastModifiedBy>Bandar</cp:lastModifiedBy>
  <cp:revision>1</cp:revision>
  <dcterms:created xsi:type="dcterms:W3CDTF">2026-10-30T00:22:05Z</dcterms:created>
  <dcterms:modified xsi:type="dcterms:W3CDTF">2026-10-30T00:22:07Z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0E404B3038C54F28B429E98DD9CDEDB0_13</vt:lpwstr>
  </property>
  <property fmtid="{D5CDD505-2E9C-101B-9397-08002B2CF9AE}" pid="3" name="KSOProductBuildVer">
    <vt:lpwstr>1049-12.2.0.23196</vt:lpwstr>
  </property>
</Properties>
</file>